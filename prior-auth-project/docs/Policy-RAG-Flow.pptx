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13248" y="1371600"/>
            <a:ext cx="1371600" cy="13716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9445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1E1B4B"/>
                </a:solidFill>
                <a:latin typeface="Segoe UI"/>
              </a:rPr>
              <a:t>The Policy RAG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445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4F46E5"/>
                </a:solidFill>
                <a:latin typeface="Segoe UI"/>
              </a:rPr>
              <a:t>How the AI checks a treatment against the insurance company's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892040"/>
            <a:ext cx="76169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A plain-English walkthrough for non-technical readers — what it does, how it searches, how it decides, and which technology is used.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Segoe UI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1B4B"/>
                </a:solidFill>
                <a:latin typeface="Segoe UI"/>
              </a:rPr>
              <a:t>One doctor's note, five AI workers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2468880"/>
            <a:ext cx="19202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>
                <a:solidFill>
                  <a:srgbClr val="4F46E5"/>
                </a:solidFill>
                <a:latin typeface="Segoe UI"/>
              </a:rPr>
              <a:t>1</a:t>
            </a:r>
          </a:p>
          <a:p>
            <a:pPr algn="ctr"/>
            <a:r>
              <a:rPr sz="1700" b="1">
                <a:solidFill>
                  <a:srgbClr val="1E1B4B"/>
                </a:solidFill>
                <a:latin typeface="Segoe UI"/>
              </a:rPr>
              <a:t>Extractor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Reads the note,
hides patient identity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40864" y="3273552"/>
            <a:ext cx="384048" cy="310896"/>
          </a:xfrm>
          <a:prstGeom prst="rightArrow">
            <a:avLst/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61488" y="2468880"/>
            <a:ext cx="19202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>
                <a:solidFill>
                  <a:srgbClr val="4F46E5"/>
                </a:solidFill>
                <a:latin typeface="Segoe UI"/>
              </a:rPr>
              <a:t>2</a:t>
            </a:r>
          </a:p>
          <a:p>
            <a:pPr algn="ctr"/>
            <a:r>
              <a:rPr sz="1700" b="1">
                <a:solidFill>
                  <a:srgbClr val="1E1B4B"/>
                </a:solidFill>
                <a:latin typeface="Segoe UI"/>
              </a:rPr>
              <a:t>ICD Coder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Names the diagnosis
with a medical code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18304" y="3273552"/>
            <a:ext cx="384048" cy="310896"/>
          </a:xfrm>
          <a:prstGeom prst="rightArrow">
            <a:avLst/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38928" y="2468880"/>
            <a:ext cx="1920240" cy="192024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Policy RAG</a:t>
            </a:r>
          </a:p>
          <a:p>
            <a:pPr algn="ctr"/>
            <a:r>
              <a:rPr sz="1100" b="0">
                <a:solidFill>
                  <a:srgbClr val="E0E7FF"/>
                </a:solidFill>
                <a:latin typeface="Segoe UI"/>
              </a:rPr>
              <a:t>Checks the insurer's
rule book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95744" y="3273552"/>
            <a:ext cx="384048" cy="310896"/>
          </a:xfrm>
          <a:prstGeom prst="rightArrow">
            <a:avLst/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16368" y="2468880"/>
            <a:ext cx="19202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>
                <a:solidFill>
                  <a:srgbClr val="4F46E5"/>
                </a:solidFill>
                <a:latin typeface="Segoe UI"/>
              </a:rPr>
              <a:t>4</a:t>
            </a:r>
          </a:p>
          <a:p>
            <a:pPr algn="ctr"/>
            <a:r>
              <a:rPr sz="1700" b="1">
                <a:solidFill>
                  <a:srgbClr val="1E1B4B"/>
                </a:solidFill>
                <a:latin typeface="Segoe UI"/>
              </a:rPr>
              <a:t>Form Filler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Fills in the
authorization form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73184" y="3273552"/>
            <a:ext cx="384048" cy="310896"/>
          </a:xfrm>
          <a:prstGeom prst="rightArrow">
            <a:avLst/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93808" y="2468880"/>
            <a:ext cx="19202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500" b="1">
                <a:solidFill>
                  <a:srgbClr val="4F46E5"/>
                </a:solidFill>
                <a:latin typeface="Segoe UI"/>
              </a:rPr>
              <a:t>5</a:t>
            </a:r>
          </a:p>
          <a:p>
            <a:pPr algn="ctr"/>
            <a:r>
              <a:rPr sz="1700" b="1">
                <a:solidFill>
                  <a:srgbClr val="1E1B4B"/>
                </a:solidFill>
                <a:latin typeface="Segoe UI"/>
              </a:rPr>
              <a:t>Critique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Independent final
quality inspection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Segoe UI"/>
              </a:rPr>
              <a:t>This deck zooms into worker #3 — the Policy RAG Agent — the one that answers:</a:t>
            </a:r>
          </a:p>
          <a:p>
            <a:pPr algn="ctr"/>
            <a:r>
              <a:rPr sz="1900" b="1">
                <a:solidFill>
                  <a:srgbClr val="4F46E5"/>
                </a:solidFill>
                <a:latin typeface="Segoe UI"/>
              </a:rPr>
              <a:t>“Does this patient's case meet every rule in the insurance policy?”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Segoe UI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1B4B"/>
                </a:solidFill>
                <a:latin typeface="Segoe UI"/>
              </a:rPr>
              <a:t>A librarian and an inspector, in one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2000" b="1">
                <a:solidFill>
                  <a:srgbClr val="1E1B4B"/>
                </a:solidFill>
                <a:latin typeface="Segoe UI"/>
              </a:rPr>
              <a:t>📚  The Librarian</a:t>
            </a:r>
          </a:p>
          <a:p>
            <a:pPr algn="ctr"/>
            <a:r>
              <a:rPr sz="600" b="0">
                <a:solidFill>
                  <a:srgbClr val="1E1B4B"/>
                </a:solidFill>
                <a:latin typeface="Segoe UI"/>
              </a:rPr>
              <a:t/>
            </a:r>
          </a:p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The insurer keeps a library of 32 policy documents</a:t>
            </a:r>
          </a:p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(knee replacement, heart procedures, biologic drugs…).</a:t>
            </a:r>
          </a:p>
          <a:p>
            <a:pPr algn="ctr"/>
            <a:r>
              <a:rPr sz="600" b="0">
                <a:solidFill>
                  <a:srgbClr val="1E1B4B"/>
                </a:solidFill>
                <a:latin typeface="Segoe UI"/>
              </a:rPr>
              <a:t/>
            </a:r>
          </a:p>
          <a:p>
            <a:pPr algn="ctr"/>
            <a:r>
              <a:rPr sz="1400" b="1">
                <a:solidFill>
                  <a:srgbClr val="4F46E5"/>
                </a:solidFill>
                <a:latin typeface="Segoe UI"/>
              </a:rPr>
              <a:t>Job: pull out the ONE policy that applies</a:t>
            </a:r>
          </a:p>
          <a:p>
            <a:pPr algn="ctr"/>
            <a:r>
              <a:rPr sz="1400" b="1">
                <a:solidFill>
                  <a:srgbClr val="4F46E5"/>
                </a:solidFill>
                <a:latin typeface="Segoe UI"/>
              </a:rPr>
              <a:t>to this patient's treatment.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3108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2000" b="1">
                <a:solidFill>
                  <a:srgbClr val="1E1B4B"/>
                </a:solidFill>
                <a:latin typeface="Segoe UI"/>
              </a:rPr>
              <a:t>📋  The Inspector</a:t>
            </a:r>
          </a:p>
          <a:p>
            <a:pPr algn="ctr"/>
            <a:r>
              <a:rPr sz="600" b="0">
                <a:solidFill>
                  <a:srgbClr val="1E1B4B"/>
                </a:solidFill>
                <a:latin typeface="Segoe UI"/>
              </a:rPr>
              <a:t/>
            </a:r>
          </a:p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Every policy contains a checklist of rules:</a:t>
            </a:r>
          </a:p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“condition must be severe”, “simpler treatment tried</a:t>
            </a:r>
          </a:p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for 12+ weeks”, “imaging must confirm it”.</a:t>
            </a:r>
          </a:p>
          <a:p>
            <a:pPr algn="ctr"/>
            <a:r>
              <a:rPr sz="600" b="0">
                <a:solidFill>
                  <a:srgbClr val="1E1B4B"/>
                </a:solidFill>
                <a:latin typeface="Segoe UI"/>
              </a:rPr>
              <a:t/>
            </a:r>
          </a:p>
          <a:p>
            <a:pPr algn="ctr"/>
            <a:r>
              <a:rPr sz="1400" b="1">
                <a:solidFill>
                  <a:srgbClr val="4F46E5"/>
                </a:solidFill>
                <a:latin typeface="Segoe UI"/>
              </a:rPr>
              <a:t>Job: tick every rule the case meets —</a:t>
            </a:r>
          </a:p>
          <a:p>
            <a:pPr algn="ctr"/>
            <a:r>
              <a:rPr sz="1400" b="1">
                <a:solidFill>
                  <a:srgbClr val="4F46E5"/>
                </a:solidFill>
                <a:latin typeface="Segoe UI"/>
              </a:rPr>
              <a:t>and list every rule it does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RAG = Retrieval-Augmented Generation — plain meaning: “don't answer from memory;</a:t>
            </a:r>
          </a:p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go fetch the real reference document first, then base the answer on it.”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Segoe UI"/>
              </a:rPr>
              <a:t>THE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1B4B"/>
                </a:solidFill>
                <a:latin typeface="Segoe UI"/>
              </a:rPr>
              <a:t>What happens to every single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1089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400" b="1">
                <a:solidFill>
                  <a:srgbClr val="1E1B4B"/>
                </a:solidFill>
                <a:latin typeface="Segoe UI"/>
              </a:rPr>
              <a:t>1 · Patient facts arrive</a:t>
            </a:r>
          </a:p>
          <a:p>
            <a:pPr algn="ctr"/>
            <a:r>
              <a:rPr sz="1050" b="0">
                <a:solidFill>
                  <a:srgbClr val="64748B"/>
                </a:solidFill>
                <a:latin typeface="Segoe UI"/>
              </a:rPr>
              <a:t>diagnosis · treatment · symptoms</a:t>
            </a:r>
          </a:p>
          <a:p>
            <a:pPr algn="ctr"/>
            <a:r>
              <a:rPr sz="1050" b="0">
                <a:solidFill>
                  <a:srgbClr val="16A34A"/>
                </a:solidFill>
                <a:latin typeface="Segoe UI"/>
              </a:rPr>
              <a:t>(identity already masked 🔒)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13048" y="2112264"/>
            <a:ext cx="384048" cy="310896"/>
          </a:xfrm>
          <a:prstGeom prst="rightArrow">
            <a:avLst/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691640"/>
            <a:ext cx="31089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400" b="1">
                <a:solidFill>
                  <a:srgbClr val="1E1B4B"/>
                </a:solidFill>
                <a:latin typeface="Segoe UI"/>
              </a:rPr>
              <a:t>2 · Search the library</a:t>
            </a:r>
          </a:p>
          <a:p>
            <a:pPr algn="ctr"/>
            <a:r>
              <a:rPr sz="1050" b="0">
                <a:solidFill>
                  <a:srgbClr val="64748B"/>
                </a:solidFill>
                <a:latin typeface="Segoe UI"/>
              </a:rPr>
              <a:t>compare words against all 32 policies</a:t>
            </a:r>
          </a:p>
          <a:p>
            <a:pPr algn="ctr"/>
            <a:r>
              <a:rPr sz="1050" b="0">
                <a:solidFill>
                  <a:srgbClr val="4F46E5"/>
                </a:solidFill>
                <a:latin typeface="Segoe UI"/>
              </a:rPr>
              <a:t>keyword + fuzzy matching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16368" y="2112264"/>
            <a:ext cx="384048" cy="310896"/>
          </a:xfrm>
          <a:prstGeom prst="rightArrow">
            <a:avLst/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691640"/>
            <a:ext cx="3108960" cy="11430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 · Best-match policy</a:t>
            </a:r>
          </a:p>
          <a:p>
            <a:pPr algn="ctr"/>
            <a:r>
              <a:rPr sz="1050" b="0">
                <a:solidFill>
                  <a:srgbClr val="E0E7FF"/>
                </a:solidFill>
                <a:latin typeface="Segoe UI"/>
              </a:rPr>
              <a:t>highest score wins the shelf search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Segoe UI"/>
              </a:rPr>
              <a:t>e.g. “Total Knee Replacement Policy”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445752" y="2907792"/>
            <a:ext cx="310896" cy="365760"/>
          </a:xfrm>
          <a:prstGeom prst="downArrow">
            <a:avLst/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3346704"/>
            <a:ext cx="6812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400" b="1">
                <a:solidFill>
                  <a:srgbClr val="1E1B4B"/>
                </a:solidFill>
                <a:latin typeface="Segoe UI"/>
              </a:rPr>
              <a:t>4 · Check every rule on the policy's checklist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✓ severity words present?   ✓ simpler treatment tried long enough?   ✓ imaging documented?</a:t>
            </a:r>
          </a:p>
          <a:p>
            <a:pPr algn="ctr"/>
            <a:r>
              <a:rPr sz="1050" b="0">
                <a:solidFill>
                  <a:srgbClr val="4F46E5"/>
                </a:solidFill>
                <a:latin typeface="Segoe UI"/>
              </a:rPr>
              <a:t>each rule checked mechanically — same input, same answer, every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46704"/>
            <a:ext cx="3108960" cy="13716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300" b="1">
                <a:solidFill>
                  <a:srgbClr val="1E1B4B"/>
                </a:solidFill>
                <a:latin typeface="Segoe UI"/>
              </a:rPr>
              <a:t>Confidence score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30% — right policy found?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70% — rules actually met?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406640" y="4791456"/>
            <a:ext cx="310896" cy="365760"/>
          </a:xfrm>
          <a:prstGeom prst="downArrow">
            <a:avLst/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5230368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400" b="1">
                <a:solidFill>
                  <a:srgbClr val="16A34A"/>
                </a:solidFill>
                <a:latin typeface="Segoe UI"/>
              </a:rPr>
              <a:t>✓ ALL rules met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case continues to the</a:t>
            </a:r>
          </a:p>
          <a:p>
            <a:pPr algn="ctr"/>
            <a:r>
              <a:rPr sz="1150" b="1">
                <a:solidFill>
                  <a:srgbClr val="1E1B4B"/>
                </a:solidFill>
                <a:latin typeface="Segoe UI"/>
              </a:rPr>
              <a:t>Form Filler → auto-approval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5230368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400" b="1">
                <a:solidFill>
                  <a:srgbClr val="D97706"/>
                </a:solidFill>
                <a:latin typeface="Segoe UI"/>
              </a:rPr>
              <a:t>⏸ ANY rule missing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case goes to a human reviewer</a:t>
            </a:r>
          </a:p>
          <a:p>
            <a:pPr algn="ctr"/>
            <a:r>
              <a:rPr sz="1150" b="1">
                <a:solidFill>
                  <a:srgbClr val="1E1B4B"/>
                </a:solidFill>
                <a:latin typeface="Segoe UI"/>
              </a:rPr>
              <a:t>with the exact missing items listed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1B4B"/>
                </a:solidFill>
                <a:latin typeface="Segoe UI"/>
              </a:rPr>
              <a:t>Never rejects on its own.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Never guesses. Every verdict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is written to the audit 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Segoe UI"/>
              </a:rPr>
              <a:t>THE JARGON, TRANSLATED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1B4B"/>
                </a:solidFill>
                <a:latin typeface="Segoe UI"/>
              </a:rPr>
              <a:t>Chunking, embeddings, semantic search — and what WE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7335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673352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PLAIN-ENGLISH MEANING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73352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USED IN THIS PROJECT?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30552"/>
            <a:ext cx="108813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2199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1B4B"/>
                </a:solidFill>
                <a:latin typeface="Segoe UI"/>
              </a:rPr>
              <a:t>Retrieval (the “R” in RAG)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22199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Fetch the real document before answering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22199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A34A"/>
                </a:solidFill>
                <a:latin typeface="Segoe UI"/>
              </a:rPr>
              <a:t>✓ Yes — every case opens a real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70632"/>
            <a:ext cx="108813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6207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1B4B"/>
                </a:solidFill>
                <a:latin typeface="Segoe UI"/>
              </a:rPr>
              <a:t>Keyword + fuzzy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86207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Match by words; near-misses still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86207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6A34A"/>
                </a:solidFill>
                <a:latin typeface="Segoe UI"/>
              </a:rPr>
              <a:t>✓ Yes — this is our search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10712"/>
            <a:ext cx="108813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0215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1B4B"/>
                </a:solidFill>
                <a:latin typeface="Segoe UI"/>
              </a:rPr>
              <a:t>Chunking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50215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Cut long files into bite-size pieces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50215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64748B"/>
                </a:solidFill>
                <a:latin typeface="Segoe UI"/>
              </a:rPr>
              <a:t>Not needed — policies are small structured cards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50792"/>
            <a:ext cx="108813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1B4B"/>
                </a:solidFill>
                <a:latin typeface="Segoe UI"/>
              </a:rPr>
              <a:t>Embeddings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14223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Turn sentences into numbers that capture meaning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14223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64748B"/>
                </a:solidFill>
                <a:latin typeface="Segoe UI"/>
              </a:rPr>
              <a:t>Not yet — worthwhile once the library grows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90872"/>
            <a:ext cx="108813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78231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1B4B"/>
                </a:solidFill>
                <a:latin typeface="Segoe UI"/>
              </a:rPr>
              <a:t>Vector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78231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Special store for those numbers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78231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64748B"/>
                </a:solidFill>
                <a:latin typeface="Segoe UI"/>
              </a:rPr>
              <a:t>Not yet — no embeddings to store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330952"/>
            <a:ext cx="108813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42239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1B4B"/>
                </a:solidFill>
                <a:latin typeface="Segoe UI"/>
              </a:rPr>
              <a:t>Semantic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542239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Search by meaning, not exact words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542239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D97706"/>
                </a:solidFill>
                <a:latin typeface="Segoe UI"/>
              </a:rPr>
              <a:t>Partly — fuzzy matching is the light version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971032"/>
            <a:ext cx="1088136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606247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1B4B"/>
                </a:solidFill>
                <a:latin typeface="Segoe UI"/>
              </a:rPr>
              <a:t>LLM (GPT-4o on Azure)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606247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AI that reads &amp; writes 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6062472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D97706"/>
                </a:solidFill>
                <a:latin typeface="Segoe UI"/>
              </a:rPr>
              <a:t>Optional, note-reading only — never decides approvals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Segoe U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1B4B"/>
                </a:solidFill>
                <a:latin typeface="Segoe UI"/>
              </a:rPr>
              <a:t>Technology used &amp; the safety promises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Segoe UI"/>
              </a:rPr>
              <a:t>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94960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7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1B4B"/>
                </a:solidFill>
                <a:latin typeface="Segoe UI"/>
              </a:rPr>
              <a:t>Python + Pydantic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9514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the language, plus a data validator that catches any malformed handoff instantly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15768"/>
            <a:ext cx="5394960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79775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1B4B"/>
                </a:solidFill>
                <a:latin typeface="Segoe UI"/>
              </a:rPr>
              <a:t>FastAPI + Uvicorn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44951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the web dashboard you open in the browser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65575"/>
            <a:ext cx="5394960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9583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1B4B"/>
                </a:solidFill>
                <a:latin typeface="Segoe UI"/>
              </a:rPr>
              <a:t>difflib fuzzy 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94759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the “close-enough” word comparison inside the policy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15383"/>
            <a:ext cx="5394960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793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1B4B"/>
                </a:solidFill>
                <a:latin typeface="Segoe UI"/>
              </a:rPr>
              <a:t>JSON policy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4456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all 32 insurer policies with keywords + checklists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65192"/>
            <a:ext cx="5394960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1B4B"/>
                </a:solidFill>
                <a:latin typeface="Segoe UI"/>
              </a:rPr>
              <a:t>NetworkX knowledge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9437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the map of ICD-10 diagnosis codes (used by the ICD Coder)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15000"/>
            <a:ext cx="5394960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7900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1B4B"/>
                </a:solidFill>
                <a:latin typeface="Segoe UI"/>
              </a:rPr>
              <a:t>Azure OpenAI GPT-4o (optional)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04418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</a:rPr>
              <a:t>helps read messy notes — never checks policies, never approves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Segoe UI"/>
              </a:rPr>
              <a:t>SAFETY PROMISES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965960"/>
            <a:ext cx="5120640" cy="786384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587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0391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A34A"/>
                </a:solidFill>
                <a:latin typeface="Segoe UI"/>
              </a:rPr>
              <a:t>✓  Privacy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3317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1B4B"/>
                </a:solidFill>
                <a:latin typeface="Segoe UI"/>
              </a:rPr>
              <a:t>identity masked before any AI reasoning; every agent re-checks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862072"/>
            <a:ext cx="5120640" cy="786384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587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9352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A34A"/>
                </a:solidFill>
                <a:latin typeface="Segoe UI"/>
              </a:rPr>
              <a:t>✓  No guessing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2278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1B4B"/>
                </a:solidFill>
                <a:latin typeface="Segoe UI"/>
              </a:rPr>
              <a:t>anything unclear stops and goes to a human, with a written reason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758183"/>
            <a:ext cx="5120640" cy="786384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587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831335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A34A"/>
                </a:solidFill>
                <a:latin typeface="Segoe UI"/>
              </a:rPr>
              <a:t>✓  Same case, same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12394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1B4B"/>
                </a:solidFill>
                <a:latin typeface="Segoe UI"/>
              </a:rPr>
              <a:t>policy checks are fixed rules — fully repeatable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654296"/>
            <a:ext cx="5120640" cy="786384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587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72744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A34A"/>
                </a:solidFill>
                <a:latin typeface="Segoe UI"/>
              </a:rPr>
              <a:t>✓  Everything on the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0200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1B4B"/>
                </a:solidFill>
                <a:latin typeface="Segoe UI"/>
              </a:rPr>
              <a:t>every step, score and reason is written to an audit log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550408"/>
            <a:ext cx="5120640" cy="786384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587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00" b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6235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A34A"/>
                </a:solidFill>
                <a:latin typeface="Segoe UI"/>
              </a:rPr>
              <a:t>✓  Independent double-check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91616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1B4B"/>
                </a:solidFill>
                <a:latin typeface="Segoe UI"/>
              </a:rPr>
              <a:t>a 5th agent re-verifies the finished package field by field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